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Prata" panose="020B0604020202020204" charset="0"/>
      <p:regular r:id="rId13"/>
    </p:embeddedFont>
    <p:embeddedFont>
      <p:font typeface="Raleway" pitchFamily="2" charset="0"/>
      <p:regular r:id="rId14"/>
    </p:embeddedFont>
    <p:embeddedFont>
      <p:font typeface="Raleway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5033" autoAdjust="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5920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3A3B3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925119" y="1855589"/>
            <a:ext cx="1770162" cy="266402"/>
          </a:xfrm>
          <a:prstGeom prst="roundRect">
            <a:avLst>
              <a:gd name="adj" fmla="val 6386"/>
            </a:avLst>
          </a:prstGeom>
          <a:solidFill>
            <a:srgbClr val="443D09"/>
          </a:solidFill>
          <a:ln/>
        </p:spPr>
      </p:sp>
      <p:sp>
        <p:nvSpPr>
          <p:cNvPr id="5" name="Text 2"/>
          <p:cNvSpPr/>
          <p:nvPr/>
        </p:nvSpPr>
        <p:spPr>
          <a:xfrm>
            <a:off x="4010174" y="1898079"/>
            <a:ext cx="205725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IPO RESEARCH REPORT · 2025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925119" y="2178695"/>
            <a:ext cx="496364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Horizon Reclaim India Ltd</a:t>
            </a:r>
            <a:endParaRPr lang="en-US" sz="2750" dirty="0"/>
          </a:p>
        </p:txBody>
      </p:sp>
      <p:sp>
        <p:nvSpPr>
          <p:cNvPr id="7" name="Text 4"/>
          <p:cNvSpPr/>
          <p:nvPr/>
        </p:nvSpPr>
        <p:spPr>
          <a:xfrm>
            <a:off x="3925119" y="283428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EE2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IPO Valuation &amp; Prospectus Analysis</a:t>
            </a: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· NSE/BSE Listing · Issue Size: ₹850 Cr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08781"/>
            <a:ext cx="1351657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EEE27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81174" y="651272"/>
            <a:ext cx="163874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EE2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COMPANY 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31887"/>
            <a:ext cx="750934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India's Leading Waste-to-Energy Platform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46945"/>
            <a:ext cx="2628230" cy="26282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988" y="2220292"/>
            <a:ext cx="1631305" cy="1327175"/>
          </a:xfrm>
          <a:prstGeom prst="roundRect">
            <a:avLst>
              <a:gd name="adj" fmla="val 1602"/>
            </a:avLst>
          </a:prstGeom>
          <a:solidFill>
            <a:srgbClr val="3A3B3C"/>
          </a:solidFill>
          <a:ln/>
        </p:spPr>
      </p:sp>
      <p:sp>
        <p:nvSpPr>
          <p:cNvPr id="7" name="Text 4"/>
          <p:cNvSpPr/>
          <p:nvPr/>
        </p:nvSpPr>
        <p:spPr>
          <a:xfrm>
            <a:off x="3616747" y="2362051"/>
            <a:ext cx="13477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Founded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616747" y="2725266"/>
            <a:ext cx="13477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2015 · Ahmedabad, Gujarat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48052" y="2220292"/>
            <a:ext cx="1631379" cy="1327175"/>
          </a:xfrm>
          <a:prstGeom prst="roundRect">
            <a:avLst>
              <a:gd name="adj" fmla="val 1602"/>
            </a:avLst>
          </a:prstGeom>
          <a:solidFill>
            <a:srgbClr val="3A3B3C"/>
          </a:solidFill>
          <a:ln/>
        </p:spPr>
      </p:sp>
      <p:sp>
        <p:nvSpPr>
          <p:cNvPr id="10" name="Text 7"/>
          <p:cNvSpPr/>
          <p:nvPr/>
        </p:nvSpPr>
        <p:spPr>
          <a:xfrm>
            <a:off x="5389811" y="2362051"/>
            <a:ext cx="13478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Business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389811" y="2725266"/>
            <a:ext cx="134786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Waste processing, RDF, power generation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021190" y="2220292"/>
            <a:ext cx="1631379" cy="1327175"/>
          </a:xfrm>
          <a:prstGeom prst="roundRect">
            <a:avLst>
              <a:gd name="adj" fmla="val 1602"/>
            </a:avLst>
          </a:prstGeom>
          <a:solidFill>
            <a:srgbClr val="3A3B3C"/>
          </a:solidFill>
          <a:ln/>
        </p:spPr>
      </p:sp>
      <p:sp>
        <p:nvSpPr>
          <p:cNvPr id="13" name="Text 10"/>
          <p:cNvSpPr/>
          <p:nvPr/>
        </p:nvSpPr>
        <p:spPr>
          <a:xfrm>
            <a:off x="7162949" y="2362051"/>
            <a:ext cx="13478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Scale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162949" y="2725266"/>
            <a:ext cx="13478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 plants · 18 states · 3.2M tons/yr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74988" y="3706937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Pre-IPO Revenue: </a:t>
            </a: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₹620 Cr</a:t>
            </a: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· EBITDA: </a:t>
            </a: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₹148 Cr</a:t>
            </a: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· PAT: </a:t>
            </a: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₹62 Cr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18220"/>
            <a:ext cx="1286545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EEE27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81174" y="560710"/>
            <a:ext cx="157363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EE2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INDUSTRY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41325"/>
            <a:ext cx="624252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 ₹1.2 Trillion Market Opportunity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56383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38672"/>
            <a:ext cx="24020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Industry Tailwinds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2832" y="2026667"/>
            <a:ext cx="212601" cy="2126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019598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Policy Push:</a:t>
            </a: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Swachh Bharat 2.0 &amp; CPCB mandates driving municipal contracts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2832" y="2763813"/>
            <a:ext cx="212601" cy="2126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10398" y="2756743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Urbanization:</a:t>
            </a: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India's urban waste growing at </a:t>
            </a: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8% CAGR</a:t>
            </a: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through 2030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2832" y="3500958"/>
            <a:ext cx="212601" cy="2126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210398" y="3493889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ESG Mandates:</a:t>
            </a: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SEBI BRSR requirements accelerating corporate procurement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A3B3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783" y="352127"/>
            <a:ext cx="3329434" cy="44392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426021"/>
            <a:ext cx="586234" cy="168325"/>
          </a:xfrm>
          <a:prstGeom prst="roundRect">
            <a:avLst>
              <a:gd name="adj" fmla="val 7106"/>
            </a:avLst>
          </a:prstGeom>
          <a:solidFill>
            <a:srgbClr val="443D09"/>
          </a:solidFill>
          <a:ln/>
        </p:spPr>
      </p:sp>
      <p:sp>
        <p:nvSpPr>
          <p:cNvPr id="5" name="Text 2"/>
          <p:cNvSpPr/>
          <p:nvPr/>
        </p:nvSpPr>
        <p:spPr>
          <a:xfrm>
            <a:off x="555873" y="455861"/>
            <a:ext cx="923925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IPO DETAILS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496119" y="622325"/>
            <a:ext cx="4550346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Offer Structure &amp; Use of Proceeds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496119" y="1088678"/>
            <a:ext cx="4722763" cy="32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₹850Cr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2234505" y="1519907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Total Issue Size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96119" y="1717625"/>
            <a:ext cx="472276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Fresh Issue + OFS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96119" y="2043336"/>
            <a:ext cx="4722763" cy="32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₹185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2234505" y="2474565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Price Band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96119" y="2672283"/>
            <a:ext cx="472276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 Equity Share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96119" y="2997994"/>
            <a:ext cx="4722763" cy="32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4.6M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2234505" y="3429223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Shares Offered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96119" y="3626941"/>
            <a:ext cx="472276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Fresh + Promoter OFS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96119" y="3952652"/>
            <a:ext cx="4722763" cy="32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25x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2234505" y="4383881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Subscription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96119" y="4581599"/>
            <a:ext cx="472276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QIB Category (Day 2)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18220"/>
            <a:ext cx="1317873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EEE27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81174" y="560710"/>
            <a:ext cx="16049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EE2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FINANCIAL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41325"/>
            <a:ext cx="804408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Strong Revenue Growth, Expanding Margins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56383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3867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Financial Highlights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001887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CAGR (FY21–FY24): </a:t>
            </a: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51%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EBITDA margin expanded </a:t>
            </a: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+600 bps</a:t>
            </a: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in 3 years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 Debt/EBITDA: </a:t>
            </a: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1.2x</a:t>
            </a: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conservative leverage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ROCE: </a:t>
            </a: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18%</a:t>
            </a: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vs. industry avg. 12%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49701" y="3217292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71660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3432349"/>
            <a:ext cx="177180" cy="14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0398" y="3380259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FY24 PAT of ₹62 Cr implies ~10% net margin — above peer median of 7%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8087"/>
            <a:ext cx="1015529" cy="255240"/>
          </a:xfrm>
          <a:prstGeom prst="roundRect">
            <a:avLst>
              <a:gd name="adj" fmla="val 6457"/>
            </a:avLst>
          </a:prstGeom>
          <a:noFill/>
          <a:ln/>
          <a:effectLst>
            <a:outerShdw blurRad="101600" dist="50800" dir="16200000" algn="bl" rotWithShape="0">
              <a:srgbClr val="EEE27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8495" y="449238"/>
            <a:ext cx="1307976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850" dirty="0">
                <a:solidFill>
                  <a:srgbClr val="EEE2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DCF VALUATION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16533"/>
            <a:ext cx="6501929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Intrinsic Value: ₹212–₹248 Per Share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8375" cy="2813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4269" y="1478161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Assumptions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4269" y="1842343"/>
            <a:ext cx="3908375" cy="5290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76813" y="1998687"/>
            <a:ext cx="35194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WACC: </a:t>
            </a: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10.5%</a:t>
            </a: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· Terminal Growth: </a:t>
            </a: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4.0%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4269" y="2504331"/>
            <a:ext cx="3908375" cy="5290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76813" y="2660675"/>
            <a:ext cx="35194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CAGR (5-yr): </a:t>
            </a: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22%</a:t>
            </a: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· Tax Rate: </a:t>
            </a: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25%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4269" y="3166318"/>
            <a:ext cx="3908375" cy="52901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76813" y="3322662"/>
            <a:ext cx="35194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Enterprise Value (Base): </a:t>
            </a: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₹2,850 Cr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4744269" y="3844975"/>
            <a:ext cx="3908375" cy="740718"/>
          </a:xfrm>
          <a:prstGeom prst="roundRect">
            <a:avLst>
              <a:gd name="adj" fmla="val 2781"/>
            </a:avLst>
          </a:prstGeom>
          <a:solidFill>
            <a:srgbClr val="183A13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1563" y="4048795"/>
            <a:ext cx="171599" cy="13729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90455" y="3999012"/>
            <a:ext cx="332489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case implies </a:t>
            </a:r>
            <a:r>
              <a:rPr lang="en-US" sz="105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24% upside</a:t>
            </a: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to upper price band of ₹185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53207"/>
            <a:ext cx="2078906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blurRad="101600" dist="50800" dir="16200000" algn="bl" rotWithShape="0">
              <a:srgbClr val="EEE27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81174" y="695697"/>
            <a:ext cx="236599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EE2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COMPARABLE COMPANY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76312"/>
            <a:ext cx="698167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Trading at a Modest Premium to Peers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631900"/>
            <a:ext cx="8151763" cy="2472035"/>
          </a:xfrm>
          <a:prstGeom prst="roundRect">
            <a:avLst>
              <a:gd name="adj" fmla="val 860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2714" y="1726481"/>
            <a:ext cx="24511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Company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4919" y="1726481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EV/EBITDA (x)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90504" y="1726481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P/E (x)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6089" y="1726481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EV/Sales (x)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21674" y="1726481"/>
            <a:ext cx="16368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ROCE (%)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714" y="2137693"/>
            <a:ext cx="24511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Horizon Reclaim (Implied)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4919" y="2137693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14.2x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90504" y="2137693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22.5x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6089" y="2137693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3.8x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21674" y="2137693"/>
            <a:ext cx="16368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18%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714" y="2548905"/>
            <a:ext cx="24511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Indorama Ventures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4919" y="2548905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12.5x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90504" y="2548905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19.0x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6089" y="2548905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21674" y="2548905"/>
            <a:ext cx="16368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714" y="2960117"/>
            <a:ext cx="24511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TCPL Packaging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4919" y="2960117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15.8x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90504" y="2960117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24.0x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56089" y="2960117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21674" y="2960117"/>
            <a:ext cx="16368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2714" y="3371329"/>
            <a:ext cx="24511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Enviro Infra Engineers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24919" y="3371329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13.0x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90504" y="3371329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20.5x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6089" y="3371329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3.2x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21674" y="3371329"/>
            <a:ext cx="16368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2714" y="3782541"/>
            <a:ext cx="24511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Peer Median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24919" y="3782541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13.0x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90504" y="3782541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20.5x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56089" y="3782541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3.2x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21674" y="3782541"/>
            <a:ext cx="16368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15%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6119" y="426340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Horizon trades at a </a:t>
            </a: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9% EV/EBITDA premium</a:t>
            </a: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to peer median — justified by superior ROCE and growth profile.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590699" cy="110430"/>
          </a:xfrm>
          <a:prstGeom prst="roundRect">
            <a:avLst>
              <a:gd name="adj" fmla="val 7703"/>
            </a:avLst>
          </a:prstGeom>
          <a:noFill/>
          <a:ln/>
          <a:effectLst>
            <a:outerShdw blurRad="101600" dist="50800" dir="16200000" algn="bl" rotWithShape="0">
              <a:srgbClr val="EEE27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8609" y="411063"/>
            <a:ext cx="962918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EEE27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RISK ASSESSMENT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343331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Risk Matrix: Key Investor Concerns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28824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232" y="2341959"/>
            <a:ext cx="134406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Primary Risk Factors</a:t>
            </a:r>
            <a:endParaRPr lang="en-US" sz="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3232" y="2492499"/>
            <a:ext cx="3989412" cy="2457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81699" y="2572866"/>
            <a:ext cx="37905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Regulatory:</a:t>
            </a: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Policy shifts in waste management mandates</a:t>
            </a:r>
            <a:endParaRPr lang="en-US" sz="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3232" y="2773710"/>
            <a:ext cx="3989412" cy="2457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81699" y="2854077"/>
            <a:ext cx="37905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Concentration:</a:t>
            </a: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Top 5 clients = 38% of revenue</a:t>
            </a:r>
            <a:endParaRPr lang="en-US" sz="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3232" y="3054921"/>
            <a:ext cx="3989412" cy="24579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81699" y="3135288"/>
            <a:ext cx="37905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Execution:</a:t>
            </a: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12 new plants in pipeline — capex risk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48568"/>
            <a:ext cx="590401" cy="145256"/>
          </a:xfrm>
          <a:prstGeom prst="roundRect">
            <a:avLst>
              <a:gd name="adj" fmla="val 7320"/>
            </a:avLst>
          </a:prstGeom>
          <a:solidFill>
            <a:srgbClr val="443D09"/>
          </a:solidFill>
          <a:ln/>
        </p:spPr>
      </p:sp>
      <p:sp>
        <p:nvSpPr>
          <p:cNvPr id="3" name="Text 1"/>
          <p:cNvSpPr/>
          <p:nvPr/>
        </p:nvSpPr>
        <p:spPr>
          <a:xfrm>
            <a:off x="549250" y="475134"/>
            <a:ext cx="941338" cy="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ESG ANALYSIS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615925"/>
            <a:ext cx="4635475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ESG Leadership as a Valuation Catalyst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971824" y="1551682"/>
            <a:ext cx="1089794" cy="221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92%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240" y="997967"/>
            <a:ext cx="1329035" cy="13290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50244" y="2404467"/>
            <a:ext cx="1133029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Waste Diversion Rate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96119" y="2576066"/>
            <a:ext cx="4041279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vs. industry avg. 61%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6082308" y="1551682"/>
            <a:ext cx="1089794" cy="221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78%</a:t>
            </a:r>
            <a:endParaRPr lang="en-US" sz="17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724" y="997967"/>
            <a:ext cx="1329035" cy="13290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59686" y="2404467"/>
            <a:ext cx="1135038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Women in Workforce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4606603" y="2576066"/>
            <a:ext cx="4041279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Operational &amp; leadership roles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1971824" y="3377803"/>
            <a:ext cx="1089794" cy="221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100%</a:t>
            </a:r>
            <a:endParaRPr lang="en-US" sz="17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2240" y="2824088"/>
            <a:ext cx="1329035" cy="13290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62969" y="4230588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BRSR Compliant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496119" y="4402187"/>
            <a:ext cx="4041279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SEBI reporting since FY22</a:t>
            </a:r>
            <a:endParaRPr lang="en-US" sz="650" dirty="0"/>
          </a:p>
        </p:txBody>
      </p:sp>
      <p:sp>
        <p:nvSpPr>
          <p:cNvPr id="17" name="Text 12"/>
          <p:cNvSpPr/>
          <p:nvPr/>
        </p:nvSpPr>
        <p:spPr>
          <a:xfrm>
            <a:off x="6082308" y="3377803"/>
            <a:ext cx="1089794" cy="221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35%</a:t>
            </a:r>
            <a:endParaRPr lang="en-US" sz="17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2724" y="2824088"/>
            <a:ext cx="1329035" cy="132903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073453" y="4230588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Carbon Reduction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4606603" y="4402187"/>
            <a:ext cx="4041279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vs. 2020 baseline</a:t>
            </a:r>
            <a:endParaRPr lang="en-US" sz="650" dirty="0"/>
          </a:p>
        </p:txBody>
      </p:sp>
      <p:sp>
        <p:nvSpPr>
          <p:cNvPr id="21" name="Text 15"/>
          <p:cNvSpPr/>
          <p:nvPr/>
        </p:nvSpPr>
        <p:spPr>
          <a:xfrm>
            <a:off x="496119" y="4579665"/>
            <a:ext cx="8608963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ESG score: </a:t>
            </a:r>
            <a:r>
              <a:rPr lang="en-US" sz="6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AA (MSCI)</a:t>
            </a:r>
            <a:r>
              <a:rPr lang="en-US" sz="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eligible for ESG-dedicated funds; reduces cost of capital by ~80 bps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2077"/>
            <a:ext cx="1746349" cy="223317"/>
          </a:xfrm>
          <a:prstGeom prst="roundRect">
            <a:avLst>
              <a:gd name="adj" fmla="val 6666"/>
            </a:avLst>
          </a:prstGeom>
          <a:solidFill>
            <a:srgbClr val="443D09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459284"/>
            <a:ext cx="2054721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INVESTMENT RECOMMENDATION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88777"/>
            <a:ext cx="661526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EEE27D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SUBSCRIBE</a:t>
            </a: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— Strong Buy at Issue Price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96119" y="1361108"/>
            <a:ext cx="1908051" cy="927125"/>
          </a:xfrm>
          <a:prstGeom prst="roundRect">
            <a:avLst>
              <a:gd name="adj" fmla="val 2007"/>
            </a:avLst>
          </a:prstGeom>
          <a:solidFill>
            <a:srgbClr val="3A3B3C"/>
          </a:solidFill>
          <a:ln/>
        </p:spPr>
      </p:sp>
      <p:sp>
        <p:nvSpPr>
          <p:cNvPr id="6" name="Text 4"/>
          <p:cNvSpPr/>
          <p:nvPr/>
        </p:nvSpPr>
        <p:spPr>
          <a:xfrm>
            <a:off x="620092" y="1485081"/>
            <a:ext cx="15505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✅</a:t>
            </a: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Growth Thesis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0092" y="1792188"/>
            <a:ext cx="166010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51% revenue CAGR; ₹1.2T TAM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12665" y="1361108"/>
            <a:ext cx="1908051" cy="927125"/>
          </a:xfrm>
          <a:prstGeom prst="roundRect">
            <a:avLst>
              <a:gd name="adj" fmla="val 2007"/>
            </a:avLst>
          </a:prstGeom>
          <a:solidFill>
            <a:srgbClr val="3A3B3C"/>
          </a:solidFill>
          <a:ln/>
        </p:spPr>
      </p:sp>
      <p:sp>
        <p:nvSpPr>
          <p:cNvPr id="9" name="Text 7"/>
          <p:cNvSpPr/>
          <p:nvPr/>
        </p:nvSpPr>
        <p:spPr>
          <a:xfrm>
            <a:off x="2636639" y="1485081"/>
            <a:ext cx="15505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✅</a:t>
            </a: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Valuation Gap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36639" y="1792188"/>
            <a:ext cx="166010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24% upside to base-case DCF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6119" y="2396728"/>
            <a:ext cx="3924598" cy="741090"/>
          </a:xfrm>
          <a:prstGeom prst="roundRect">
            <a:avLst>
              <a:gd name="adj" fmla="val 2511"/>
            </a:avLst>
          </a:prstGeom>
          <a:solidFill>
            <a:srgbClr val="3A3B3C"/>
          </a:solidFill>
          <a:ln/>
        </p:spPr>
      </p:sp>
      <p:sp>
        <p:nvSpPr>
          <p:cNvPr id="12" name="Text 10"/>
          <p:cNvSpPr/>
          <p:nvPr/>
        </p:nvSpPr>
        <p:spPr>
          <a:xfrm>
            <a:off x="620092" y="2520702"/>
            <a:ext cx="15505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✅</a:t>
            </a: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ESG Premium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0092" y="2827809"/>
            <a:ext cx="367665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AA-rated; fund eligibility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28046" y="1347564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Price Targets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83201" y="1663452"/>
            <a:ext cx="14288" cy="2370609"/>
          </a:xfrm>
          <a:prstGeom prst="roundRect">
            <a:avLst>
              <a:gd name="adj" fmla="val 130228"/>
            </a:avLst>
          </a:prstGeom>
          <a:solidFill>
            <a:srgbClr val="535455"/>
          </a:solidFill>
          <a:ln/>
        </p:spPr>
      </p:sp>
      <p:sp>
        <p:nvSpPr>
          <p:cNvPr id="16" name="Shape 14"/>
          <p:cNvSpPr/>
          <p:nvPr/>
        </p:nvSpPr>
        <p:spPr>
          <a:xfrm>
            <a:off x="6193036" y="1795835"/>
            <a:ext cx="372070" cy="14288"/>
          </a:xfrm>
          <a:prstGeom prst="roundRect">
            <a:avLst>
              <a:gd name="adj" fmla="val 130228"/>
            </a:avLst>
          </a:prstGeom>
          <a:solidFill>
            <a:srgbClr val="535455"/>
          </a:solidFill>
          <a:ln/>
        </p:spPr>
      </p:sp>
      <p:sp>
        <p:nvSpPr>
          <p:cNvPr id="17" name="Shape 15"/>
          <p:cNvSpPr/>
          <p:nvPr/>
        </p:nvSpPr>
        <p:spPr>
          <a:xfrm>
            <a:off x="6550819" y="1663452"/>
            <a:ext cx="279053" cy="279053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sp>
        <p:nvSpPr>
          <p:cNvPr id="18" name="Text 16"/>
          <p:cNvSpPr/>
          <p:nvPr/>
        </p:nvSpPr>
        <p:spPr>
          <a:xfrm>
            <a:off x="6597328" y="1686706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728046" y="1703710"/>
            <a:ext cx="1342132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₹185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Upper Issue Price (Entry)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5584" y="2509019"/>
            <a:ext cx="372070" cy="14288"/>
          </a:xfrm>
          <a:prstGeom prst="roundRect">
            <a:avLst>
              <a:gd name="adj" fmla="val 130228"/>
            </a:avLst>
          </a:prstGeom>
          <a:solidFill>
            <a:srgbClr val="535455"/>
          </a:solidFill>
          <a:ln/>
        </p:spPr>
      </p:sp>
      <p:sp>
        <p:nvSpPr>
          <p:cNvPr id="21" name="Shape 19"/>
          <p:cNvSpPr/>
          <p:nvPr/>
        </p:nvSpPr>
        <p:spPr>
          <a:xfrm>
            <a:off x="6550819" y="2376636"/>
            <a:ext cx="279053" cy="279053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sp>
        <p:nvSpPr>
          <p:cNvPr id="22" name="Text 20"/>
          <p:cNvSpPr/>
          <p:nvPr/>
        </p:nvSpPr>
        <p:spPr>
          <a:xfrm>
            <a:off x="6597328" y="2399891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10512" y="2416894"/>
            <a:ext cx="1342132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₹230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12-Month DCF Target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93036" y="3133799"/>
            <a:ext cx="372070" cy="14288"/>
          </a:xfrm>
          <a:prstGeom prst="roundRect">
            <a:avLst>
              <a:gd name="adj" fmla="val 130228"/>
            </a:avLst>
          </a:prstGeom>
          <a:solidFill>
            <a:srgbClr val="535455"/>
          </a:solidFill>
          <a:ln/>
        </p:spPr>
      </p:sp>
      <p:sp>
        <p:nvSpPr>
          <p:cNvPr id="25" name="Shape 23"/>
          <p:cNvSpPr/>
          <p:nvPr/>
        </p:nvSpPr>
        <p:spPr>
          <a:xfrm>
            <a:off x="6550819" y="3001417"/>
            <a:ext cx="279053" cy="279053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sp>
        <p:nvSpPr>
          <p:cNvPr id="26" name="Text 24"/>
          <p:cNvSpPr/>
          <p:nvPr/>
        </p:nvSpPr>
        <p:spPr>
          <a:xfrm>
            <a:off x="6597328" y="3024671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728046" y="3041675"/>
            <a:ext cx="1342132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₹285</a:t>
            </a: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Bull Case (24-Month)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28046" y="4156100"/>
            <a:ext cx="3924598" cy="443210"/>
          </a:xfrm>
          <a:prstGeom prst="roundRect">
            <a:avLst>
              <a:gd name="adj" fmla="val 4198"/>
            </a:avLst>
          </a:prstGeom>
          <a:solidFill>
            <a:srgbClr val="183A13"/>
          </a:solidFill>
          <a:ln/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020" y="4335884"/>
            <a:ext cx="155004" cy="12397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130998" y="4284687"/>
            <a:ext cx="385487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Rating: SUBSCRIBE</a:t>
            </a:r>
            <a:r>
              <a:rPr lang="en-US" sz="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· Risk: Medium · Horizon: 18–24 Months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566</Words>
  <Application>Microsoft Office PowerPoint</Application>
  <PresentationFormat>On-screen Show (16:9)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Raleway</vt:lpstr>
      <vt:lpstr>Arial</vt:lpstr>
      <vt:lpstr>Prata</vt:lpstr>
      <vt:lpstr>Raleway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Shweta Devre</cp:lastModifiedBy>
  <cp:revision>2</cp:revision>
  <dcterms:created xsi:type="dcterms:W3CDTF">2026-07-02T12:02:54Z</dcterms:created>
  <dcterms:modified xsi:type="dcterms:W3CDTF">2026-07-02T12:08:18Z</dcterms:modified>
</cp:coreProperties>
</file>